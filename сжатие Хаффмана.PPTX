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61" r:id="rId4"/>
    <p:sldId id="258" r:id="rId5"/>
    <p:sldId id="266" r:id="rId6"/>
    <p:sldId id="262" r:id="rId7"/>
    <p:sldId id="268" r:id="rId8"/>
    <p:sldId id="267" r:id="rId9"/>
    <p:sldId id="263" r:id="rId10"/>
    <p:sldId id="265" r:id="rId11"/>
    <p:sldId id="264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от 0 до 3 Мб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TXT</c:v>
                </c:pt>
                <c:pt idx="1">
                  <c:v>BMP</c:v>
                </c:pt>
                <c:pt idx="2">
                  <c:v>WAV</c:v>
                </c:pt>
                <c:pt idx="3">
                  <c:v>MOV</c:v>
                </c:pt>
              </c:strCache>
            </c:strRef>
          </c:cat>
          <c:val>
            <c:numRef>
              <c:f>Лист1!$B$2:$B$5</c:f>
              <c:numCache>
                <c:formatCode>0.00</c:formatCode>
                <c:ptCount val="4"/>
                <c:pt idx="0">
                  <c:v>0.5</c:v>
                </c:pt>
                <c:pt idx="1">
                  <c:v>0.7</c:v>
                </c:pt>
                <c:pt idx="2">
                  <c:v>0.4</c:v>
                </c:pt>
                <c:pt idx="3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CF-44A0-A8FA-6B544C99CC98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от 4 до 10 Мб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TXT</c:v>
                </c:pt>
                <c:pt idx="1">
                  <c:v>BMP</c:v>
                </c:pt>
                <c:pt idx="2">
                  <c:v>WAV</c:v>
                </c:pt>
                <c:pt idx="3">
                  <c:v>MOV</c:v>
                </c:pt>
              </c:strCache>
            </c:strRef>
          </c:cat>
          <c:val>
            <c:numRef>
              <c:f>Лист1!$C$2:$C$5</c:f>
              <c:numCache>
                <c:formatCode>0.00</c:formatCode>
                <c:ptCount val="4"/>
                <c:pt idx="0">
                  <c:v>1.1000000000000001</c:v>
                </c:pt>
                <c:pt idx="1">
                  <c:v>1.2</c:v>
                </c:pt>
                <c:pt idx="2">
                  <c:v>1.2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BCF-44A0-A8FA-6B544C99CC98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от 11 до 30 Мб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TXT</c:v>
                </c:pt>
                <c:pt idx="1">
                  <c:v>BMP</c:v>
                </c:pt>
                <c:pt idx="2">
                  <c:v>WAV</c:v>
                </c:pt>
                <c:pt idx="3">
                  <c:v>MOV</c:v>
                </c:pt>
              </c:strCache>
            </c:strRef>
          </c:cat>
          <c:val>
            <c:numRef>
              <c:f>Лист1!$D$2:$D$5</c:f>
              <c:numCache>
                <c:formatCode>0.00</c:formatCode>
                <c:ptCount val="4"/>
                <c:pt idx="0">
                  <c:v>2.6</c:v>
                </c:pt>
                <c:pt idx="1">
                  <c:v>2.6</c:v>
                </c:pt>
                <c:pt idx="2">
                  <c:v>3</c:v>
                </c:pt>
                <c:pt idx="3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BCF-44A0-A8FA-6B544C99CC98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от 31до 60 Мб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TXT</c:v>
                </c:pt>
                <c:pt idx="1">
                  <c:v>BMP</c:v>
                </c:pt>
                <c:pt idx="2">
                  <c:v>WAV</c:v>
                </c:pt>
                <c:pt idx="3">
                  <c:v>MOV</c:v>
                </c:pt>
              </c:strCache>
            </c:strRef>
          </c:cat>
          <c:val>
            <c:numRef>
              <c:f>Лист1!$E$2:$E$5</c:f>
              <c:numCache>
                <c:formatCode>0.00</c:formatCode>
                <c:ptCount val="4"/>
                <c:pt idx="0">
                  <c:v>5.6</c:v>
                </c:pt>
                <c:pt idx="1">
                  <c:v>6.4</c:v>
                </c:pt>
                <c:pt idx="2">
                  <c:v>5.6</c:v>
                </c:pt>
                <c:pt idx="3">
                  <c:v>6.5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F7-4B00-B5E7-6095EB8A9DB4}"/>
            </c:ext>
          </c:extLst>
        </c:ser>
        <c:ser>
          <c:idx val="4"/>
          <c:order val="4"/>
          <c:tx>
            <c:strRef>
              <c:f>Лист1!$F$1</c:f>
              <c:strCache>
                <c:ptCount val="1"/>
                <c:pt idx="0">
                  <c:v>от 61 до 100 Мб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TXT</c:v>
                </c:pt>
                <c:pt idx="1">
                  <c:v>BMP</c:v>
                </c:pt>
                <c:pt idx="2">
                  <c:v>WAV</c:v>
                </c:pt>
                <c:pt idx="3">
                  <c:v>MOV</c:v>
                </c:pt>
              </c:strCache>
            </c:strRef>
          </c:cat>
          <c:val>
            <c:numRef>
              <c:f>Лист1!$F$2:$F$5</c:f>
              <c:numCache>
                <c:formatCode>0.00</c:formatCode>
                <c:ptCount val="4"/>
                <c:pt idx="0">
                  <c:v>10.6</c:v>
                </c:pt>
                <c:pt idx="1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CF7-4B00-B5E7-6095EB8A9DB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071621696"/>
        <c:axId val="1071622176"/>
      </c:barChart>
      <c:catAx>
        <c:axId val="1071621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71622176"/>
        <c:crosses val="autoZero"/>
        <c:auto val="1"/>
        <c:lblAlgn val="ctr"/>
        <c:lblOffset val="100"/>
        <c:noMultiLvlLbl val="0"/>
      </c:catAx>
      <c:valAx>
        <c:axId val="10716221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Время, сек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716216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от 0 до 3 Мб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TXT</c:v>
                </c:pt>
                <c:pt idx="1">
                  <c:v>BMP</c:v>
                </c:pt>
                <c:pt idx="2">
                  <c:v>WAV</c:v>
                </c:pt>
                <c:pt idx="3">
                  <c:v>MOV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0.5</c:v>
                </c:pt>
                <c:pt idx="1">
                  <c:v>0.4</c:v>
                </c:pt>
                <c:pt idx="2">
                  <c:v>0.4</c:v>
                </c:pt>
                <c:pt idx="3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30-4457-A80C-7E83EA934C14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от 4 до 10 Мб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TXT</c:v>
                </c:pt>
                <c:pt idx="1">
                  <c:v>BMP</c:v>
                </c:pt>
                <c:pt idx="2">
                  <c:v>WAV</c:v>
                </c:pt>
                <c:pt idx="3">
                  <c:v>MOV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1</c:v>
                </c:pt>
                <c:pt idx="1">
                  <c:v>0.8</c:v>
                </c:pt>
                <c:pt idx="2">
                  <c:v>0.8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730-4457-A80C-7E83EA934C14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от 11 до 30 Мб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TXT</c:v>
                </c:pt>
                <c:pt idx="1">
                  <c:v>BMP</c:v>
                </c:pt>
                <c:pt idx="2">
                  <c:v>WAV</c:v>
                </c:pt>
                <c:pt idx="3">
                  <c:v>MOV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1.8</c:v>
                </c:pt>
                <c:pt idx="1">
                  <c:v>1.8</c:v>
                </c:pt>
                <c:pt idx="2">
                  <c:v>3.2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730-4457-A80C-7E83EA934C14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от 31до 60 Мб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TXT</c:v>
                </c:pt>
                <c:pt idx="1">
                  <c:v>BMP</c:v>
                </c:pt>
                <c:pt idx="2">
                  <c:v>WAV</c:v>
                </c:pt>
                <c:pt idx="3">
                  <c:v>MOV</c:v>
                </c:pt>
              </c:strCache>
            </c:strRef>
          </c:cat>
          <c:val>
            <c:numRef>
              <c:f>Лист1!$E$2:$E$5</c:f>
              <c:numCache>
                <c:formatCode>General</c:formatCode>
                <c:ptCount val="4"/>
                <c:pt idx="0">
                  <c:v>4.2</c:v>
                </c:pt>
                <c:pt idx="1">
                  <c:v>5.6</c:v>
                </c:pt>
                <c:pt idx="2">
                  <c:v>5.6</c:v>
                </c:pt>
                <c:pt idx="3">
                  <c:v>6.25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730-4457-A80C-7E83EA934C14}"/>
            </c:ext>
          </c:extLst>
        </c:ser>
        <c:ser>
          <c:idx val="4"/>
          <c:order val="4"/>
          <c:tx>
            <c:strRef>
              <c:f>Лист1!$F$1</c:f>
              <c:strCache>
                <c:ptCount val="1"/>
                <c:pt idx="0">
                  <c:v>от 61 до 100 Мб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TXT</c:v>
                </c:pt>
                <c:pt idx="1">
                  <c:v>BMP</c:v>
                </c:pt>
                <c:pt idx="2">
                  <c:v>WAV</c:v>
                </c:pt>
                <c:pt idx="3">
                  <c:v>MOV</c:v>
                </c:pt>
              </c:strCache>
            </c:strRef>
          </c:cat>
          <c:val>
            <c:numRef>
              <c:f>Лист1!$F$2:$F$5</c:f>
              <c:numCache>
                <c:formatCode>General</c:formatCode>
                <c:ptCount val="4"/>
                <c:pt idx="0">
                  <c:v>8.8000000000000007</c:v>
                </c:pt>
                <c:pt idx="1">
                  <c:v>8.6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730-4457-A80C-7E83EA934C1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122697855"/>
        <c:axId val="1122698335"/>
      </c:barChart>
      <c:catAx>
        <c:axId val="11226978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22698335"/>
        <c:crosses val="autoZero"/>
        <c:auto val="1"/>
        <c:lblAlgn val="ctr"/>
        <c:lblOffset val="100"/>
        <c:noMultiLvlLbl val="0"/>
      </c:catAx>
      <c:valAx>
        <c:axId val="11226983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Время, сек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226978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от 0 до 3 Мб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TXT</c:v>
                </c:pt>
                <c:pt idx="1">
                  <c:v>BMP</c:v>
                </c:pt>
                <c:pt idx="2">
                  <c:v>WAV</c:v>
                </c:pt>
                <c:pt idx="3">
                  <c:v>MOV</c:v>
                </c:pt>
              </c:strCache>
            </c:strRef>
          </c:cat>
          <c:val>
            <c:numRef>
              <c:f>Лист1!$B$2:$B$5</c:f>
              <c:numCache>
                <c:formatCode>0.00%</c:formatCode>
                <c:ptCount val="4"/>
                <c:pt idx="0">
                  <c:v>0.436</c:v>
                </c:pt>
                <c:pt idx="1">
                  <c:v>5.5300000000000002E-2</c:v>
                </c:pt>
                <c:pt idx="2">
                  <c:v>0.20549999999999999</c:v>
                </c:pt>
                <c:pt idx="3">
                  <c:v>1.4E-3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68-42CD-BE21-B2BC7791F149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от 4 до 10 Мб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TXT</c:v>
                </c:pt>
                <c:pt idx="1">
                  <c:v>BMP</c:v>
                </c:pt>
                <c:pt idx="2">
                  <c:v>WAV</c:v>
                </c:pt>
                <c:pt idx="3">
                  <c:v>MOV</c:v>
                </c:pt>
              </c:strCache>
            </c:strRef>
          </c:cat>
          <c:val>
            <c:numRef>
              <c:f>Лист1!$C$2:$C$5</c:f>
              <c:numCache>
                <c:formatCode>0.00%</c:formatCode>
                <c:ptCount val="4"/>
                <c:pt idx="0">
                  <c:v>0.42320000000000002</c:v>
                </c:pt>
                <c:pt idx="1">
                  <c:v>7.6600000000000001E-2</c:v>
                </c:pt>
                <c:pt idx="2">
                  <c:v>8.0199999999999994E-2</c:v>
                </c:pt>
                <c:pt idx="3">
                  <c:v>2.3E-3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A68-42CD-BE21-B2BC7791F149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от 11 до 30 Мб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TXT</c:v>
                </c:pt>
                <c:pt idx="1">
                  <c:v>BMP</c:v>
                </c:pt>
                <c:pt idx="2">
                  <c:v>WAV</c:v>
                </c:pt>
                <c:pt idx="3">
                  <c:v>MOV</c:v>
                </c:pt>
              </c:strCache>
            </c:strRef>
          </c:cat>
          <c:val>
            <c:numRef>
              <c:f>Лист1!$D$2:$D$5</c:f>
              <c:numCache>
                <c:formatCode>0.00%</c:formatCode>
                <c:ptCount val="4"/>
                <c:pt idx="0">
                  <c:v>0.4148</c:v>
                </c:pt>
                <c:pt idx="1">
                  <c:v>8.48E-2</c:v>
                </c:pt>
                <c:pt idx="2">
                  <c:v>6.88E-2</c:v>
                </c:pt>
                <c:pt idx="3">
                  <c:v>5.5999999999999999E-3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A68-42CD-BE21-B2BC7791F149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от 31до 60 Мб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TXT</c:v>
                </c:pt>
                <c:pt idx="1">
                  <c:v>BMP</c:v>
                </c:pt>
                <c:pt idx="2">
                  <c:v>WAV</c:v>
                </c:pt>
                <c:pt idx="3">
                  <c:v>MOV</c:v>
                </c:pt>
              </c:strCache>
            </c:strRef>
          </c:cat>
          <c:val>
            <c:numRef>
              <c:f>Лист1!$E$2:$E$5</c:f>
              <c:numCache>
                <c:formatCode>0.00%</c:formatCode>
                <c:ptCount val="4"/>
                <c:pt idx="0">
                  <c:v>0.40079999999999999</c:v>
                </c:pt>
                <c:pt idx="1">
                  <c:v>0.1152</c:v>
                </c:pt>
                <c:pt idx="2">
                  <c:v>5.79E-2</c:v>
                </c:pt>
                <c:pt idx="3">
                  <c:v>5.7999999999999996E-3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A68-42CD-BE21-B2BC7791F149}"/>
            </c:ext>
          </c:extLst>
        </c:ser>
        <c:ser>
          <c:idx val="4"/>
          <c:order val="4"/>
          <c:tx>
            <c:strRef>
              <c:f>Лист1!$F$1</c:f>
              <c:strCache>
                <c:ptCount val="1"/>
                <c:pt idx="0">
                  <c:v>от 61 до 100 Мб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TXT</c:v>
                </c:pt>
                <c:pt idx="1">
                  <c:v>BMP</c:v>
                </c:pt>
                <c:pt idx="2">
                  <c:v>WAV</c:v>
                </c:pt>
                <c:pt idx="3">
                  <c:v>MOV</c:v>
                </c:pt>
              </c:strCache>
            </c:strRef>
          </c:cat>
          <c:val>
            <c:numRef>
              <c:f>Лист1!$F$2:$F$5</c:f>
              <c:numCache>
                <c:formatCode>0.00%</c:formatCode>
                <c:ptCount val="4"/>
                <c:pt idx="0">
                  <c:v>0.3901</c:v>
                </c:pt>
                <c:pt idx="1">
                  <c:v>0.1782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A68-42CD-BE21-B2BC7791F14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588075071"/>
        <c:axId val="1588075551"/>
      </c:barChart>
      <c:catAx>
        <c:axId val="15880750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588075551"/>
        <c:crosses val="autoZero"/>
        <c:auto val="1"/>
        <c:lblAlgn val="ctr"/>
        <c:lblOffset val="100"/>
        <c:noMultiLvlLbl val="0"/>
      </c:catAx>
      <c:valAx>
        <c:axId val="15880755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baseline="0" dirty="0"/>
                  <a:t>Процент  Сжатия, проценты</a:t>
                </a:r>
              </a:p>
            </c:rich>
          </c:tx>
          <c:layout>
            <c:manualLayout>
              <c:xMode val="edge"/>
              <c:yMode val="edge"/>
              <c:x val="7.246376811594203E-3"/>
              <c:y val="0.1966772724837966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5880750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328954-4D28-BC44-7998-02DA8D3A1B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6CCC0F4-A95A-A241-8DD6-5E93FFBBEC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C3B414-A59D-8888-0922-998C21B80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14A75-5400-4B3D-92EC-632FC51653FC}" type="datetimeFigureOut">
              <a:rPr lang="ru-RU" smtClean="0"/>
              <a:t>20.02.2025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33CDA7-28FE-66B0-C944-73348452A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B1C2420-D2CE-3F1B-E28F-492B7FACC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9D8DA-404E-41E9-BB94-E3E5C214F0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9585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686E92-760E-C84B-6CC5-8BAA3C6FA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27D930-8623-95CB-FB74-1433EB807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8E34DC-4E4F-FA20-9D99-F32A2226B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14A75-5400-4B3D-92EC-632FC51653FC}" type="datetimeFigureOut">
              <a:rPr lang="ru-RU" smtClean="0"/>
              <a:t>20.02.2025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E707658-EE8F-DA36-2F63-924024609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B0CF46E-F50C-9E7C-B07E-14E282C54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9D8DA-404E-41E9-BB94-E3E5C214F0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5486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812AF1-006B-0866-B65C-32B88781E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024D9C-8FD0-19B8-B5B6-74DCF3FD1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8F932B-ABE0-9E5B-B0C1-CBA8CA21D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14A75-5400-4B3D-92EC-632FC51653FC}" type="datetimeFigureOut">
              <a:rPr lang="ru-RU" smtClean="0"/>
              <a:t>20.02.2025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AFEC585-4E20-DD0E-3F9B-89DFD9C2A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30BB73-21ED-A06F-FD9B-2FC49B7CB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9D8DA-404E-41E9-BB94-E3E5C214F0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8181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0C62CF-8D18-A75A-1A74-646D3E688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42A8D0-A0D6-4EF4-2135-4A2BF85441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A681E1D-C827-DA12-D7FE-3E35802A1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CFFA436-0687-4EEC-55D0-8660D28CE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14A75-5400-4B3D-92EC-632FC51653FC}" type="datetimeFigureOut">
              <a:rPr lang="ru-RU" smtClean="0"/>
              <a:t>20.02.2025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82C5E0E-43DC-B722-CEF8-F15FC45D0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38F75A9-FB9D-CC14-BF63-AC2C48833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9D8DA-404E-41E9-BB94-E3E5C214F0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5428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2FCB34-425A-0EC6-9205-4EE019C7F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BDB9E69-5C73-8751-C750-8B0B0933E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B6BD0E6-D766-D513-7B5C-46A224BD98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E873F6E-50E0-F10D-D3D5-6C29C57EC0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0AECBA8-A1D4-8906-3372-AFF3C1277F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3B889CF-53E4-2C69-5A27-498DC8341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14A75-5400-4B3D-92EC-632FC51653FC}" type="datetimeFigureOut">
              <a:rPr lang="ru-RU" smtClean="0"/>
              <a:t>20.02.2025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90B28E1-1D93-93F8-3CBA-4815D0433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64DD890-8130-BE26-C5F1-1BF1D0C25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9D8DA-404E-41E9-BB94-E3E5C214F0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6247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E078C0-F15D-4D9B-41EA-42719777A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5774863-8DAD-88C4-A137-13FC71E6F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14A75-5400-4B3D-92EC-632FC51653FC}" type="datetimeFigureOut">
              <a:rPr lang="ru-RU" smtClean="0"/>
              <a:t>20.02.2025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78037C5-BE0E-92E4-CBBC-B98E7A461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7FD1AEC-506E-89C8-69DE-67A521717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9D8DA-404E-41E9-BB94-E3E5C214F0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0304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4525E74-4598-00FB-3713-BB95448A0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14A75-5400-4B3D-92EC-632FC51653FC}" type="datetimeFigureOut">
              <a:rPr lang="ru-RU" smtClean="0"/>
              <a:t>20.02.2025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CA44773-5FBC-8DA8-3523-576DFFC51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4B30E19-1EF5-47E8-55E0-BDCDC78AE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9D8DA-404E-41E9-BB94-E3E5C214F0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2532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DF2895-DF3F-FA26-B28C-CBF7B8EBB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7A18D7-A8E5-C930-4817-D8A8A0DC5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1600711-4262-44F7-25C8-8779010D9E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CFB1EE-E991-B82F-E394-5E8A2074A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14A75-5400-4B3D-92EC-632FC51653FC}" type="datetimeFigureOut">
              <a:rPr lang="ru-RU" smtClean="0"/>
              <a:t>20.02.2025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A984BAF-EE4D-9D21-8A05-048D308FD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9FAA713-502B-FAA9-87DE-DAD32C962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9D8DA-404E-41E9-BB94-E3E5C214F0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0327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3C475A-2E10-0DB2-4D48-94C4F2F00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FC6BCA5-A6C4-D82A-6151-367B723598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6551A29-06BB-2CC3-516B-0046A6B591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BBD6632-6F2F-0BAF-564D-7C19A16A2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14A75-5400-4B3D-92EC-632FC51653FC}" type="datetimeFigureOut">
              <a:rPr lang="ru-RU" smtClean="0"/>
              <a:t>20.02.2025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6FC23C-C639-0F42-8F13-4A4900D25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91EC104-4B33-95E4-FE35-EBD893E9F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9D8DA-404E-41E9-BB94-E3E5C214F0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6392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872630-50C8-695E-4ECC-EA13C1923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C8D46FE-B89B-7FFF-3A61-D17C2BB2A0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0E9A4C-119E-93DA-DAAE-BA0846AB4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14A75-5400-4B3D-92EC-632FC51653FC}" type="datetimeFigureOut">
              <a:rPr lang="ru-RU" smtClean="0"/>
              <a:t>20.02.2025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AB6623-93D3-8766-FCC4-55871FA35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595BBE-55A4-A757-6DE6-C4377BF5D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9D8DA-404E-41E9-BB94-E3E5C214F0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3596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49F478B-FC89-7C12-BD92-D50CFD9B06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DB1249D-16DD-D1D2-2DF9-6728B63266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2C5D581-17B8-D59C-7B39-B434839FB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14A75-5400-4B3D-92EC-632FC51653FC}" type="datetimeFigureOut">
              <a:rPr lang="ru-RU" smtClean="0"/>
              <a:t>20.02.2025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B3985F-6211-90EF-AD7E-773B98109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288A08-D4A3-D7D8-2826-17943B4A8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9D8DA-404E-41E9-BB94-E3E5C214F0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6226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F6EC62-C4DB-24B1-2C21-6618D7DD0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C8CE3A-4F6B-E551-B2D9-F206E6D18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FB5062-7DD5-97C5-64ED-EF904CE90E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D14A75-5400-4B3D-92EC-632FC51653FC}" type="datetimeFigureOut">
              <a:rPr lang="ru-RU" smtClean="0"/>
              <a:t>20.02.2025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9D6614-5A21-4E1E-5652-CEB9CD138A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202830-8BA8-8C7D-2B9A-15AE8ACCF8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D9D8DA-404E-41E9-BB94-E3E5C214F0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5380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hyperlink" Target="&#1048;&#1053;&#1060;&#1054;.xlsx" TargetMode="Externa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hyperlink" Target="&#1048;&#1053;&#1060;&#1054;.xlsx" TargetMode="Externa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hyperlink" Target="&#1048;&#1053;&#1060;&#1054;.xlsx" TargetMode="Externa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6495D1-75D4-0704-D91B-B721AB787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pPr marL="0" indent="0">
              <a:buNone/>
            </a:pPr>
            <a:r>
              <a:rPr lang="en-US" sz="3400">
                <a:latin typeface="Unbounded" pitchFamily="34" charset="0"/>
                <a:ea typeface="Unbounded" pitchFamily="34" charset="-122"/>
                <a:cs typeface="Unbounded" pitchFamily="34" charset="-120"/>
              </a:rPr>
              <a:t>Отслеживание инфографики алгоритма Хаффмана</a:t>
            </a:r>
            <a:endParaRPr lang="en-US" sz="3400"/>
          </a:p>
        </p:txBody>
      </p:sp>
      <p:sp>
        <p:nvSpPr>
          <p:cNvPr id="2057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7869C7-A991-AE83-93CC-B3FF2C7A3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4575791"/>
            <a:ext cx="4243589" cy="1200943"/>
          </a:xfrm>
        </p:spPr>
        <p:txBody>
          <a:bodyPr>
            <a:norm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en-US" sz="2200" dirty="0" err="1">
                <a:latin typeface="Unbounded" pitchFamily="34" charset="0"/>
              </a:rPr>
              <a:t>Автор</a:t>
            </a:r>
            <a:r>
              <a:rPr lang="ru-RU" sz="2200" dirty="0">
                <a:latin typeface="Unbounded" pitchFamily="34" charset="0"/>
              </a:rPr>
              <a:t>ы</a:t>
            </a:r>
            <a:r>
              <a:rPr lang="en-US" sz="2200" dirty="0">
                <a:latin typeface="Unbounded" pitchFamily="34" charset="0"/>
              </a:rPr>
              <a:t>: </a:t>
            </a:r>
            <a:endParaRPr lang="ru-RU" sz="2200" dirty="0">
              <a:latin typeface="Unbounded" pitchFamily="34" charset="0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ru-RU" sz="2200" dirty="0">
                <a:latin typeface="Unbounded" pitchFamily="34" charset="0"/>
              </a:rPr>
              <a:t>Данилов Дмитрий</a:t>
            </a:r>
          </a:p>
          <a:p>
            <a:pPr marL="0" indent="0">
              <a:spcBef>
                <a:spcPct val="0"/>
              </a:spcBef>
              <a:buNone/>
            </a:pPr>
            <a:r>
              <a:rPr lang="ru-RU" sz="2200" dirty="0">
                <a:latin typeface="Unbounded" pitchFamily="34" charset="0"/>
              </a:rPr>
              <a:t>Новиков Дмитрий</a:t>
            </a:r>
            <a:endParaRPr lang="en-US" sz="2200" dirty="0">
              <a:latin typeface="Unbounded" pitchFamily="34" charset="0"/>
            </a:endParaRPr>
          </a:p>
          <a:p>
            <a:endParaRPr lang="ru-RU" sz="2200" dirty="0"/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BE8BA715-6EF8-ED32-535C-274D7DB7C8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97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C8DC4E-F475-5F87-8DA7-CD671C38E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Заголовок 7">
            <a:extLst>
              <a:ext uri="{FF2B5EF4-FFF2-40B4-BE49-F238E27FC236}">
                <a16:creationId xmlns:a16="http://schemas.microsoft.com/office/drawing/2014/main" id="{A92899D8-9E13-FA1A-9D7E-CB7F92533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ru-RU" sz="5400">
                <a:latin typeface="Unbounded" pitchFamily="34" charset="0"/>
              </a:rPr>
              <a:t>Цели и задачи</a:t>
            </a:r>
          </a:p>
        </p:txBody>
      </p:sp>
      <p:sp>
        <p:nvSpPr>
          <p:cNvPr id="50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Объект 8">
            <a:extLst>
              <a:ext uri="{FF2B5EF4-FFF2-40B4-BE49-F238E27FC236}">
                <a16:creationId xmlns:a16="http://schemas.microsoft.com/office/drawing/2014/main" id="{46B803B2-8019-53EF-D8A7-FD2975390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200" dirty="0"/>
              <a:t>Предоставить краткую справку об общих принципах работы алгоритма Хаффмана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200" dirty="0"/>
              <a:t>Продемонстрировать инфографику по сжатию файлов разных типов и разных размеров</a:t>
            </a:r>
          </a:p>
        </p:txBody>
      </p:sp>
      <p:pic>
        <p:nvPicPr>
          <p:cNvPr id="11" name="Picture 10" descr="Стрелка, очистка сбояая цель глаз бык">
            <a:extLst>
              <a:ext uri="{FF2B5EF4-FFF2-40B4-BE49-F238E27FC236}">
                <a16:creationId xmlns:a16="http://schemas.microsoft.com/office/drawing/2014/main" id="{05944DC7-9DA3-ACAD-1D39-22A3E2CCA4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" b="26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49887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3" name="Rectangle 2072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2F5F79-C3DE-0C51-F387-372D721CF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Наши шаги</a:t>
            </a:r>
          </a:p>
        </p:txBody>
      </p:sp>
      <p:sp>
        <p:nvSpPr>
          <p:cNvPr id="2075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F8169B-2FA2-6017-D25F-3614DD9E2D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342900" indent="-457200">
              <a:buFont typeface="+mj-lt"/>
              <a:buAutoNum type="arabicPeriod"/>
            </a:pPr>
            <a:r>
              <a:rPr lang="en-US" sz="2400" dirty="0"/>
              <a:t>Изучение </a:t>
            </a:r>
            <a:r>
              <a:rPr lang="en-US" sz="2400" dirty="0" err="1"/>
              <a:t>принципа</a:t>
            </a:r>
            <a:r>
              <a:rPr lang="en-US" sz="2400" dirty="0"/>
              <a:t> </a:t>
            </a:r>
            <a:r>
              <a:rPr lang="en-US" sz="2400" dirty="0" err="1"/>
              <a:t>работы</a:t>
            </a:r>
            <a:r>
              <a:rPr lang="en-US" sz="2400" dirty="0"/>
              <a:t> алгоритма</a:t>
            </a:r>
          </a:p>
          <a:p>
            <a:pPr marL="342900" indent="-457200">
              <a:buFont typeface="+mj-lt"/>
              <a:buAutoNum type="arabicPeriod"/>
            </a:pPr>
            <a:r>
              <a:rPr lang="en-US" sz="2400" dirty="0"/>
              <a:t>Написание кода </a:t>
            </a:r>
            <a:r>
              <a:rPr lang="en-US" sz="2400" dirty="0" err="1"/>
              <a:t>на</a:t>
            </a:r>
            <a:r>
              <a:rPr lang="en-US" sz="2400" dirty="0"/>
              <a:t> </a:t>
            </a:r>
            <a:r>
              <a:rPr lang="en-US" sz="2400" dirty="0" err="1"/>
              <a:t>языке</a:t>
            </a:r>
            <a:r>
              <a:rPr lang="en-US" sz="2400" dirty="0"/>
              <a:t> C/C++</a:t>
            </a:r>
          </a:p>
          <a:p>
            <a:pPr marL="342900" indent="-457200">
              <a:buFont typeface="+mj-lt"/>
              <a:buAutoNum type="arabicPeriod"/>
            </a:pPr>
            <a:r>
              <a:rPr lang="en-US" sz="2400" dirty="0" err="1"/>
              <a:t>Тестирование</a:t>
            </a:r>
            <a:r>
              <a:rPr lang="en-US" sz="2400" dirty="0"/>
              <a:t> </a:t>
            </a:r>
            <a:r>
              <a:rPr lang="en-US" sz="2400" dirty="0" err="1"/>
              <a:t>алгоритма</a:t>
            </a:r>
            <a:endParaRPr lang="en-US" sz="2400" dirty="0"/>
          </a:p>
          <a:p>
            <a:pPr marL="342900" indent="-457200">
              <a:buFont typeface="+mj-lt"/>
              <a:buAutoNum type="arabicPeriod"/>
            </a:pPr>
            <a:r>
              <a:rPr lang="en-US" sz="2400" dirty="0" err="1"/>
              <a:t>Сбор</a:t>
            </a:r>
            <a:r>
              <a:rPr lang="ru-RU" sz="2400" dirty="0"/>
              <a:t> файлов </a:t>
            </a:r>
            <a:r>
              <a:rPr lang="en-US" sz="2400" dirty="0" err="1"/>
              <a:t>раз</a:t>
            </a:r>
            <a:r>
              <a:rPr lang="ru-RU" sz="2400" dirty="0"/>
              <a:t>личных</a:t>
            </a:r>
            <a:r>
              <a:rPr lang="en-US" sz="2400" dirty="0"/>
              <a:t> </a:t>
            </a:r>
            <a:r>
              <a:rPr lang="en-US" sz="2400" dirty="0" err="1"/>
              <a:t>типов</a:t>
            </a:r>
            <a:r>
              <a:rPr lang="ru-RU" sz="2400" dirty="0"/>
              <a:t> и размеров</a:t>
            </a:r>
            <a:endParaRPr lang="en-US" sz="2400" dirty="0"/>
          </a:p>
          <a:p>
            <a:pPr marL="342900" indent="-457200">
              <a:buFont typeface="+mj-lt"/>
              <a:buAutoNum type="arabicPeriod"/>
            </a:pPr>
            <a:r>
              <a:rPr lang="en-US" sz="2400" dirty="0" err="1"/>
              <a:t>Анализ</a:t>
            </a:r>
            <a:r>
              <a:rPr lang="en-US" sz="2400" dirty="0"/>
              <a:t> и </a:t>
            </a:r>
            <a:r>
              <a:rPr lang="en-US" sz="2400" dirty="0" err="1"/>
              <a:t>составление</a:t>
            </a:r>
            <a:r>
              <a:rPr lang="en-US" sz="2400" dirty="0"/>
              <a:t> инфографики </a:t>
            </a: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ECF31A4C-FCBE-8729-9053-D3AFA4C21FE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92" r="9481"/>
          <a:stretch/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0972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4" name="Rectangle 1053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19D8C3-A872-9A25-AD5D-A7F1FDFB4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Принцип работы</a:t>
            </a:r>
          </a:p>
        </p:txBody>
      </p:sp>
      <p:sp>
        <p:nvSpPr>
          <p:cNvPr id="1056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77C1B7-58F1-FA0C-9DDE-5D1B45CC8C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872899"/>
            <a:ext cx="4243589" cy="3659732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0"/>
            <a:r>
              <a:rPr lang="en-US" sz="1700" dirty="0" err="1"/>
              <a:t>Алгоритм</a:t>
            </a:r>
            <a:r>
              <a:rPr lang="en-US" sz="1700" dirty="0"/>
              <a:t> </a:t>
            </a:r>
            <a:r>
              <a:rPr lang="en-US" sz="1700" dirty="0" err="1"/>
              <a:t>Хаффмана</a:t>
            </a:r>
            <a:r>
              <a:rPr lang="en-US" sz="1700" dirty="0"/>
              <a:t> </a:t>
            </a:r>
            <a:r>
              <a:rPr lang="en-US" sz="1700" dirty="0" err="1"/>
              <a:t>работает</a:t>
            </a:r>
            <a:r>
              <a:rPr lang="en-US" sz="1700" dirty="0"/>
              <a:t> </a:t>
            </a:r>
            <a:r>
              <a:rPr lang="en-US" sz="1700" dirty="0" err="1"/>
              <a:t>по</a:t>
            </a:r>
            <a:r>
              <a:rPr lang="en-US" sz="1700" dirty="0"/>
              <a:t> </a:t>
            </a:r>
            <a:r>
              <a:rPr lang="en-US" sz="1700" dirty="0" err="1"/>
              <a:t>следующему</a:t>
            </a:r>
            <a:r>
              <a:rPr lang="en-US" sz="1700" dirty="0"/>
              <a:t> </a:t>
            </a:r>
            <a:r>
              <a:rPr lang="en-US" sz="1700" dirty="0" err="1"/>
              <a:t>принципу</a:t>
            </a:r>
            <a:r>
              <a:rPr lang="en-US" sz="1700" dirty="0"/>
              <a:t>:</a:t>
            </a:r>
          </a:p>
          <a:p>
            <a:pPr marL="342900"/>
            <a:r>
              <a:rPr lang="en-US" sz="1700" dirty="0" err="1"/>
              <a:t>Подсчитывает</a:t>
            </a:r>
            <a:r>
              <a:rPr lang="en-US" sz="1700" dirty="0"/>
              <a:t> </a:t>
            </a:r>
            <a:r>
              <a:rPr lang="en-US" sz="1700" dirty="0" err="1"/>
              <a:t>частоту</a:t>
            </a:r>
            <a:r>
              <a:rPr lang="en-US" sz="1700" dirty="0"/>
              <a:t> </a:t>
            </a:r>
            <a:r>
              <a:rPr lang="en-US" sz="1700" dirty="0" err="1"/>
              <a:t>использования</a:t>
            </a:r>
            <a:r>
              <a:rPr lang="en-US" sz="1700" dirty="0"/>
              <a:t> </a:t>
            </a:r>
            <a:r>
              <a:rPr lang="en-US" sz="1700" dirty="0" err="1"/>
              <a:t>каждого</a:t>
            </a:r>
            <a:r>
              <a:rPr lang="en-US" sz="1700" dirty="0"/>
              <a:t> </a:t>
            </a:r>
            <a:r>
              <a:rPr lang="en-US" sz="1700" dirty="0" err="1"/>
              <a:t>символа</a:t>
            </a:r>
            <a:endParaRPr lang="en-US" sz="1700" dirty="0"/>
          </a:p>
          <a:p>
            <a:pPr marL="342900"/>
            <a:r>
              <a:rPr lang="en-US" sz="1700" dirty="0" err="1"/>
              <a:t>Опираясь</a:t>
            </a:r>
            <a:r>
              <a:rPr lang="en-US" sz="1700" dirty="0"/>
              <a:t> </a:t>
            </a:r>
            <a:r>
              <a:rPr lang="en-US" sz="1700" dirty="0" err="1"/>
              <a:t>на</a:t>
            </a:r>
            <a:r>
              <a:rPr lang="en-US" sz="1700" dirty="0"/>
              <a:t> </a:t>
            </a:r>
            <a:r>
              <a:rPr lang="en-US" sz="1700" dirty="0" err="1"/>
              <a:t>частоту</a:t>
            </a:r>
            <a:r>
              <a:rPr lang="en-US" sz="1700" dirty="0"/>
              <a:t> </a:t>
            </a:r>
            <a:r>
              <a:rPr lang="en-US" sz="1700" dirty="0" err="1"/>
              <a:t>встречаемости</a:t>
            </a:r>
            <a:r>
              <a:rPr lang="en-US" sz="1700" dirty="0"/>
              <a:t> </a:t>
            </a:r>
            <a:r>
              <a:rPr lang="en-US" sz="1700" dirty="0" err="1"/>
              <a:t>составляет</a:t>
            </a:r>
            <a:r>
              <a:rPr lang="en-US" sz="1700" dirty="0"/>
              <a:t> </a:t>
            </a:r>
            <a:r>
              <a:rPr lang="en-US" sz="1700" dirty="0" err="1"/>
              <a:t>дерево</a:t>
            </a:r>
            <a:r>
              <a:rPr lang="en-US" sz="1700" dirty="0"/>
              <a:t> </a:t>
            </a:r>
            <a:r>
              <a:rPr lang="en-US" sz="1700" dirty="0" err="1"/>
              <a:t>кодирования</a:t>
            </a:r>
            <a:r>
              <a:rPr lang="en-US" sz="1700" dirty="0"/>
              <a:t> </a:t>
            </a:r>
            <a:r>
              <a:rPr lang="en-US" sz="1700" dirty="0" err="1"/>
              <a:t>символов</a:t>
            </a:r>
            <a:r>
              <a:rPr lang="en-US" sz="1700" dirty="0"/>
              <a:t> </a:t>
            </a:r>
          </a:p>
          <a:p>
            <a:pPr marL="342900"/>
            <a:r>
              <a:rPr lang="ru-RU" sz="1700" dirty="0"/>
              <a:t>Проходит по всему дереву от корня (0 – влево, 1 - вправо) и з</a:t>
            </a:r>
            <a:r>
              <a:rPr lang="en-US" sz="1700" dirty="0" err="1"/>
              <a:t>аписывает</a:t>
            </a:r>
            <a:r>
              <a:rPr lang="ru-RU" sz="1700" dirty="0"/>
              <a:t> </a:t>
            </a:r>
            <a:r>
              <a:rPr lang="en-US" sz="1700" dirty="0"/>
              <a:t>в </a:t>
            </a:r>
            <a:r>
              <a:rPr lang="en-US" sz="1700" dirty="0" err="1"/>
              <a:t>массив</a:t>
            </a:r>
            <a:r>
              <a:rPr lang="en-US" sz="1700" dirty="0"/>
              <a:t> </a:t>
            </a:r>
            <a:r>
              <a:rPr lang="ru-RU" sz="1700" dirty="0"/>
              <a:t>пройденный путь в виде </a:t>
            </a:r>
            <a:r>
              <a:rPr lang="en-US" sz="1700" dirty="0" err="1"/>
              <a:t>код</a:t>
            </a:r>
            <a:r>
              <a:rPr lang="ru-RU" sz="1700" dirty="0" err="1"/>
              <a:t>ов</a:t>
            </a:r>
            <a:endParaRPr lang="ru-RU" sz="1700" dirty="0"/>
          </a:p>
          <a:p>
            <a:pPr marL="342900"/>
            <a:r>
              <a:rPr lang="ru-RU" sz="1700" dirty="0"/>
              <a:t>Этот массив</a:t>
            </a:r>
            <a:r>
              <a:rPr lang="en-US" sz="1700" dirty="0"/>
              <a:t> </a:t>
            </a:r>
            <a:r>
              <a:rPr lang="en-US" sz="1700" dirty="0" err="1"/>
              <a:t>используется</a:t>
            </a:r>
            <a:r>
              <a:rPr lang="en-US" sz="1700" dirty="0"/>
              <a:t> </a:t>
            </a:r>
            <a:r>
              <a:rPr lang="en-US" sz="1700" dirty="0" err="1"/>
              <a:t>для</a:t>
            </a:r>
            <a:r>
              <a:rPr lang="en-US" sz="1700" dirty="0"/>
              <a:t> </a:t>
            </a:r>
            <a:r>
              <a:rPr lang="en-US" sz="1700" dirty="0" err="1"/>
              <a:t>кодирования</a:t>
            </a:r>
            <a:r>
              <a:rPr lang="en-US" sz="1700" dirty="0"/>
              <a:t> и </a:t>
            </a:r>
            <a:r>
              <a:rPr lang="en-US" sz="1700" dirty="0" err="1"/>
              <a:t>декодирования</a:t>
            </a:r>
            <a:r>
              <a:rPr lang="en-US" sz="1700" dirty="0"/>
              <a:t> </a:t>
            </a:r>
            <a:r>
              <a:rPr lang="en-US" sz="1700" dirty="0" err="1"/>
              <a:t>документов</a:t>
            </a:r>
            <a:endParaRPr lang="en-US" sz="1700" dirty="0"/>
          </a:p>
        </p:txBody>
      </p:sp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0C21BB19-AFBE-9385-59E0-CBA077B7C25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15" r="15738" b="1"/>
          <a:stretch/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5933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7B7F12-8388-9354-1DB2-80843C335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E9F982-B1EF-6227-46AE-76C3E380F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 err="1"/>
              <a:t>Принцип</a:t>
            </a:r>
            <a:r>
              <a:rPr lang="en-US" sz="5400" dirty="0"/>
              <a:t> </a:t>
            </a:r>
            <a:r>
              <a:rPr lang="en-US" sz="5400" dirty="0" err="1"/>
              <a:t>работы</a:t>
            </a:r>
            <a:endParaRPr lang="en-US" sz="5400" dirty="0"/>
          </a:p>
        </p:txBody>
      </p:sp>
      <p:sp>
        <p:nvSpPr>
          <p:cNvPr id="308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A008C7-7C36-07C0-4AE4-D2C7CB677D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872899"/>
            <a:ext cx="4243589" cy="3659732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342900"/>
            <a:r>
              <a:rPr lang="en-US" sz="1600" dirty="0"/>
              <a:t>В </a:t>
            </a:r>
            <a:r>
              <a:rPr lang="en-US" sz="1600" dirty="0" err="1"/>
              <a:t>процессе</a:t>
            </a:r>
            <a:r>
              <a:rPr lang="en-US" sz="1600" dirty="0"/>
              <a:t> </a:t>
            </a:r>
            <a:r>
              <a:rPr lang="en-US" sz="1600" dirty="0" err="1"/>
              <a:t>кодирования</a:t>
            </a:r>
            <a:r>
              <a:rPr lang="en-US" sz="1600" dirty="0"/>
              <a:t> </a:t>
            </a:r>
            <a:r>
              <a:rPr lang="en-US" sz="1600" dirty="0" err="1"/>
              <a:t>происходит</a:t>
            </a:r>
            <a:r>
              <a:rPr lang="en-US" sz="1600" dirty="0"/>
              <a:t> </a:t>
            </a:r>
            <a:r>
              <a:rPr lang="en-US" sz="1600" dirty="0" err="1"/>
              <a:t>посимвольное</a:t>
            </a:r>
            <a:r>
              <a:rPr lang="en-US" sz="1600" dirty="0"/>
              <a:t> </a:t>
            </a:r>
            <a:r>
              <a:rPr lang="en-US" sz="1600" dirty="0" err="1"/>
              <a:t>чтение</a:t>
            </a:r>
            <a:r>
              <a:rPr lang="en-US" sz="1600" dirty="0"/>
              <a:t> </a:t>
            </a:r>
            <a:r>
              <a:rPr lang="en-US" sz="1600" dirty="0" err="1"/>
              <a:t>поступающего</a:t>
            </a:r>
            <a:r>
              <a:rPr lang="en-US" sz="1600" dirty="0"/>
              <a:t> </a:t>
            </a:r>
            <a:r>
              <a:rPr lang="en-US" sz="1600" dirty="0" err="1"/>
              <a:t>файла</a:t>
            </a:r>
            <a:r>
              <a:rPr lang="en-US" sz="1600" dirty="0"/>
              <a:t> в </a:t>
            </a:r>
            <a:r>
              <a:rPr lang="en-US" sz="1600" dirty="0" err="1"/>
              <a:t>бинарном</a:t>
            </a:r>
            <a:r>
              <a:rPr lang="en-US" sz="1600" dirty="0"/>
              <a:t> </a:t>
            </a:r>
            <a:r>
              <a:rPr lang="en-US" sz="1600" dirty="0" err="1"/>
              <a:t>режиме</a:t>
            </a:r>
            <a:r>
              <a:rPr lang="ru-RU" sz="1600" dirty="0"/>
              <a:t>, сопоставление символа с его кодом в таблице, </a:t>
            </a:r>
            <a:r>
              <a:rPr lang="en-US" sz="1600" dirty="0"/>
              <a:t> </a:t>
            </a:r>
            <a:r>
              <a:rPr lang="en-US" sz="1600" dirty="0" err="1"/>
              <a:t>замена</a:t>
            </a:r>
            <a:r>
              <a:rPr lang="en-US" sz="1600" dirty="0"/>
              <a:t> </a:t>
            </a:r>
            <a:r>
              <a:rPr lang="en-US" sz="1600" dirty="0" err="1"/>
              <a:t>каждого</a:t>
            </a:r>
            <a:r>
              <a:rPr lang="en-US" sz="1600" dirty="0"/>
              <a:t> </a:t>
            </a:r>
            <a:r>
              <a:rPr lang="en-US" sz="1600" dirty="0" err="1"/>
              <a:t>символа</a:t>
            </a:r>
            <a:r>
              <a:rPr lang="en-US" sz="1600" dirty="0"/>
              <a:t> </a:t>
            </a:r>
            <a:r>
              <a:rPr lang="en-US" sz="1600" dirty="0" err="1"/>
              <a:t>его</a:t>
            </a:r>
            <a:r>
              <a:rPr lang="en-US" sz="1600" dirty="0"/>
              <a:t> </a:t>
            </a:r>
            <a:r>
              <a:rPr lang="en-US" sz="1600" dirty="0" err="1"/>
              <a:t>кодом</a:t>
            </a:r>
            <a:r>
              <a:rPr lang="ru-RU" sz="1600" dirty="0"/>
              <a:t> путем побитовых сдвигов строки кода символа и записи в файл</a:t>
            </a:r>
            <a:endParaRPr lang="en-US" sz="1600" dirty="0"/>
          </a:p>
          <a:p>
            <a:pPr marL="342900"/>
            <a:r>
              <a:rPr lang="en-US" sz="1600" dirty="0"/>
              <a:t>В </a:t>
            </a:r>
            <a:r>
              <a:rPr lang="en-US" sz="1600" dirty="0" err="1"/>
              <a:t>процессе</a:t>
            </a:r>
            <a:r>
              <a:rPr lang="en-US" sz="1600" dirty="0"/>
              <a:t> </a:t>
            </a:r>
            <a:r>
              <a:rPr lang="en-US" sz="1600" dirty="0" err="1"/>
              <a:t>декодирвания</a:t>
            </a:r>
            <a:r>
              <a:rPr lang="en-US" sz="1600" dirty="0"/>
              <a:t> </a:t>
            </a:r>
            <a:r>
              <a:rPr lang="en-US" sz="1600" dirty="0" err="1"/>
              <a:t>символы</a:t>
            </a:r>
            <a:r>
              <a:rPr lang="en-US" sz="1600" dirty="0"/>
              <a:t> </a:t>
            </a:r>
            <a:r>
              <a:rPr lang="en-US" sz="1600" dirty="0" err="1"/>
              <a:t>поочередно</a:t>
            </a:r>
            <a:r>
              <a:rPr lang="ru-RU" sz="1600" dirty="0"/>
              <a:t>, путем побитовых сдвигов,</a:t>
            </a:r>
            <a:r>
              <a:rPr lang="en-US" sz="1600" dirty="0"/>
              <a:t> </a:t>
            </a:r>
            <a:r>
              <a:rPr lang="en-US" sz="1600" dirty="0" err="1"/>
              <a:t>добавляются</a:t>
            </a:r>
            <a:r>
              <a:rPr lang="en-US" sz="1600" dirty="0"/>
              <a:t> в </a:t>
            </a:r>
            <a:r>
              <a:rPr lang="en-US" sz="1600" dirty="0" err="1"/>
              <a:t>строку</a:t>
            </a:r>
            <a:r>
              <a:rPr lang="en-US" sz="1600" dirty="0"/>
              <a:t>, </a:t>
            </a:r>
            <a:r>
              <a:rPr lang="en-US" sz="1600" dirty="0" err="1"/>
              <a:t>которая</a:t>
            </a:r>
            <a:r>
              <a:rPr lang="en-US" sz="1600" dirty="0"/>
              <a:t> </a:t>
            </a:r>
            <a:r>
              <a:rPr lang="en-US" sz="1600" dirty="0" err="1"/>
              <a:t>сопоставляет</a:t>
            </a:r>
            <a:r>
              <a:rPr lang="en-US" sz="1600" dirty="0"/>
              <a:t> </a:t>
            </a:r>
            <a:r>
              <a:rPr lang="en-US" sz="1600" dirty="0" err="1"/>
              <a:t>код</a:t>
            </a:r>
            <a:r>
              <a:rPr lang="en-US" sz="1600" dirty="0"/>
              <a:t> с </a:t>
            </a:r>
            <a:r>
              <a:rPr lang="en-US" sz="1600" dirty="0" err="1"/>
              <a:t>исходным</a:t>
            </a:r>
            <a:r>
              <a:rPr lang="en-US" sz="1600" dirty="0"/>
              <a:t> </a:t>
            </a:r>
            <a:r>
              <a:rPr lang="en-US" sz="1600" dirty="0" err="1"/>
              <a:t>символом</a:t>
            </a:r>
            <a:endParaRPr lang="en-US" sz="1600" dirty="0"/>
          </a:p>
          <a:p>
            <a:pPr marL="342900">
              <a:lnSpc>
                <a:spcPct val="100000"/>
              </a:lnSpc>
            </a:pPr>
            <a:r>
              <a:rPr lang="en-US" sz="1600" dirty="0" err="1"/>
              <a:t>Таким</a:t>
            </a:r>
            <a:r>
              <a:rPr lang="en-US" sz="1600" dirty="0"/>
              <a:t> </a:t>
            </a:r>
            <a:r>
              <a:rPr lang="en-US" sz="1600" dirty="0" err="1"/>
              <a:t>образом</a:t>
            </a:r>
            <a:r>
              <a:rPr lang="en-US" sz="1600" dirty="0"/>
              <a:t> </a:t>
            </a:r>
            <a:r>
              <a:rPr lang="en-US" sz="1600" dirty="0" err="1"/>
              <a:t>алгоритм</a:t>
            </a:r>
            <a:r>
              <a:rPr lang="en-US" sz="1600" dirty="0"/>
              <a:t> </a:t>
            </a:r>
            <a:r>
              <a:rPr lang="en-US" sz="1600" dirty="0" err="1"/>
              <a:t>составляет</a:t>
            </a:r>
            <a:r>
              <a:rPr lang="en-US" sz="1600" dirty="0"/>
              <a:t> </a:t>
            </a:r>
            <a:r>
              <a:rPr lang="en-US" sz="1600" dirty="0" err="1"/>
              <a:t>коды</a:t>
            </a:r>
            <a:r>
              <a:rPr lang="en-US" sz="1600" dirty="0"/>
              <a:t>, </a:t>
            </a:r>
            <a:r>
              <a:rPr lang="en-US" sz="1600" dirty="0" err="1"/>
              <a:t>присваивая</a:t>
            </a:r>
            <a:r>
              <a:rPr lang="en-US" sz="1600" dirty="0"/>
              <a:t> </a:t>
            </a:r>
            <a:r>
              <a:rPr lang="en-US" sz="1600" dirty="0" err="1"/>
              <a:t>самым</a:t>
            </a:r>
            <a:r>
              <a:rPr lang="en-US" sz="1600" dirty="0"/>
              <a:t> </a:t>
            </a:r>
            <a:r>
              <a:rPr lang="en-US" sz="1600" dirty="0" err="1"/>
              <a:t>частым</a:t>
            </a:r>
            <a:r>
              <a:rPr lang="en-US" sz="1600" dirty="0"/>
              <a:t> </a:t>
            </a:r>
            <a:r>
              <a:rPr lang="en-US" sz="1600" dirty="0" err="1"/>
              <a:t>символам</a:t>
            </a:r>
            <a:r>
              <a:rPr lang="en-US" sz="1600" dirty="0"/>
              <a:t> </a:t>
            </a:r>
            <a:r>
              <a:rPr lang="en-US" sz="1600" dirty="0" err="1"/>
              <a:t>код</a:t>
            </a:r>
            <a:r>
              <a:rPr lang="en-US" sz="1600" dirty="0"/>
              <a:t> </a:t>
            </a:r>
            <a:r>
              <a:rPr lang="en-US" sz="1600" dirty="0" err="1"/>
              <a:t>минимальной</a:t>
            </a:r>
            <a:r>
              <a:rPr lang="en-US" sz="1600" dirty="0"/>
              <a:t> </a:t>
            </a:r>
            <a:r>
              <a:rPr lang="en-US" sz="1600" dirty="0" err="1"/>
              <a:t>длины</a:t>
            </a:r>
            <a:r>
              <a:rPr lang="en-US" sz="1600" dirty="0"/>
              <a:t>. </a:t>
            </a:r>
            <a:r>
              <a:rPr lang="en-US" sz="1600" dirty="0" err="1"/>
              <a:t>Это</a:t>
            </a:r>
            <a:r>
              <a:rPr lang="en-US" sz="1600" dirty="0"/>
              <a:t> </a:t>
            </a:r>
            <a:r>
              <a:rPr lang="en-US" sz="1600" dirty="0" err="1"/>
              <a:t>обеспечивает</a:t>
            </a:r>
            <a:r>
              <a:rPr lang="en-US" sz="1600" dirty="0"/>
              <a:t> </a:t>
            </a:r>
            <a:r>
              <a:rPr lang="en-US" sz="1600" dirty="0" err="1"/>
              <a:t>достаточно</a:t>
            </a:r>
            <a:r>
              <a:rPr lang="en-US" sz="1600" dirty="0"/>
              <a:t> </a:t>
            </a:r>
            <a:r>
              <a:rPr lang="en-US" sz="1600" dirty="0" err="1"/>
              <a:t>эффективное</a:t>
            </a:r>
            <a:r>
              <a:rPr lang="en-US" sz="1600" dirty="0"/>
              <a:t> </a:t>
            </a:r>
            <a:r>
              <a:rPr lang="en-US" sz="1600" dirty="0" err="1"/>
              <a:t>сжатие</a:t>
            </a:r>
            <a:r>
              <a:rPr lang="en-US" sz="1600" dirty="0"/>
              <a:t> </a:t>
            </a:r>
            <a:r>
              <a:rPr lang="en-US" sz="1600" dirty="0" err="1"/>
              <a:t>данных</a:t>
            </a:r>
            <a:r>
              <a:rPr lang="en-US" sz="1600" dirty="0"/>
              <a:t>. </a:t>
            </a:r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F0C49746-335B-3932-E178-DF55B47D14A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50" r="1" b="1"/>
          <a:stretch/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2565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C2BBCB-CA06-8975-378D-3393F42EA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hlinkClick r:id="rId2" action="ppaction://hlinkfile"/>
              </a:rPr>
              <a:t>Среднее время сжатия различных типов данных</a:t>
            </a:r>
            <a:endParaRPr lang="ru-RU" dirty="0"/>
          </a:p>
        </p:txBody>
      </p: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AA90DC03-E4A6-883C-E430-08152C46418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73453467"/>
              </p:ext>
            </p:extLst>
          </p:nvPr>
        </p:nvGraphicFramePr>
        <p:xfrm>
          <a:off x="838199" y="1690688"/>
          <a:ext cx="10515599" cy="48021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565011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B39BC-6FFF-B5F8-CB6A-0CD6E522D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0FD645-4A52-9AB6-5EC9-47C940CD9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hlinkClick r:id="rId2" action="ppaction://hlinkfile"/>
              </a:rPr>
              <a:t>Среднее время декомпрессии различных типов данных</a:t>
            </a:r>
            <a:endParaRPr lang="ru-RU" dirty="0"/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76F09EA9-132F-3620-4B22-9563553383A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333266608"/>
              </p:ext>
            </p:extLst>
          </p:nvPr>
        </p:nvGraphicFramePr>
        <p:xfrm>
          <a:off x="838200" y="1825625"/>
          <a:ext cx="10515600" cy="4667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10172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94A1-BC74-914E-B4E5-2EB45785A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518454-B319-4383-AEE5-49DAFE64E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hlinkClick r:id="rId2" action="ppaction://hlinkfile"/>
              </a:rPr>
              <a:t>Средняя степень сжатия различных типов данных</a:t>
            </a:r>
            <a:endParaRPr lang="ru-RU" dirty="0"/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32220F71-7E83-14D8-BACC-7E21634CEFF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975512807"/>
              </p:ext>
            </p:extLst>
          </p:nvPr>
        </p:nvGraphicFramePr>
        <p:xfrm>
          <a:off x="838200" y="1825625"/>
          <a:ext cx="10515600" cy="4667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73714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C02A29-5B79-59C1-BB01-F9AF899FE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000" dirty="0" err="1"/>
              <a:t>Зависимость</a:t>
            </a:r>
            <a:r>
              <a:rPr lang="en-US" sz="3000" dirty="0"/>
              <a:t> </a:t>
            </a:r>
            <a:r>
              <a:rPr lang="en-US" sz="3000" dirty="0" err="1"/>
              <a:t>степени</a:t>
            </a:r>
            <a:r>
              <a:rPr lang="en-US" sz="3000" dirty="0"/>
              <a:t> </a:t>
            </a:r>
            <a:r>
              <a:rPr lang="en-US" sz="3000" dirty="0" err="1"/>
              <a:t>сжатия</a:t>
            </a:r>
            <a:r>
              <a:rPr lang="ru-RU" sz="3000" dirty="0"/>
              <a:t> </a:t>
            </a:r>
            <a:r>
              <a:rPr lang="en-US" sz="3000" dirty="0" err="1"/>
              <a:t>от</a:t>
            </a:r>
            <a:r>
              <a:rPr lang="en-US" sz="3000" dirty="0"/>
              <a:t> </a:t>
            </a:r>
            <a:r>
              <a:rPr lang="en-US" sz="3000" dirty="0" err="1"/>
              <a:t>типа</a:t>
            </a:r>
            <a:r>
              <a:rPr lang="en-US" sz="3000" dirty="0"/>
              <a:t> </a:t>
            </a:r>
            <a:r>
              <a:rPr lang="en-US" sz="3000" dirty="0" err="1"/>
              <a:t>сжимаемых</a:t>
            </a:r>
            <a:r>
              <a:rPr lang="en-US" sz="3000" dirty="0"/>
              <a:t> </a:t>
            </a:r>
            <a:r>
              <a:rPr lang="en-US" sz="3000" dirty="0" err="1"/>
              <a:t>данных</a:t>
            </a:r>
            <a:endParaRPr lang="en-US" sz="3000" dirty="0"/>
          </a:p>
        </p:txBody>
      </p:sp>
      <p:sp>
        <p:nvSpPr>
          <p:cNvPr id="308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124618E-D0F8-1BF1-58FE-B295C5AB69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80" y="2872899"/>
            <a:ext cx="4243589" cy="3659732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r>
              <a:rPr lang="en-US" sz="1800" dirty="0" err="1"/>
              <a:t>Различие</a:t>
            </a:r>
            <a:r>
              <a:rPr lang="en-US" sz="1800" dirty="0"/>
              <a:t> в </a:t>
            </a:r>
            <a:r>
              <a:rPr lang="en-US" sz="1800" dirty="0" err="1"/>
              <a:t>частоте</a:t>
            </a:r>
            <a:r>
              <a:rPr lang="en-US" sz="1800" dirty="0"/>
              <a:t> </a:t>
            </a:r>
            <a:r>
              <a:rPr lang="en-US" sz="1800" dirty="0" err="1"/>
              <a:t>встречаемости</a:t>
            </a:r>
            <a:r>
              <a:rPr lang="en-US" sz="1800" dirty="0"/>
              <a:t> </a:t>
            </a:r>
            <a:r>
              <a:rPr lang="en-US" sz="1800" dirty="0" err="1"/>
              <a:t>символов</a:t>
            </a:r>
            <a:r>
              <a:rPr lang="en-US" sz="1800" dirty="0"/>
              <a:t> (</a:t>
            </a:r>
            <a:r>
              <a:rPr lang="en-US" sz="1800" dirty="0" err="1"/>
              <a:t>дисперсии</a:t>
            </a:r>
            <a:r>
              <a:rPr lang="en-US" sz="1800" dirty="0"/>
              <a:t>) </a:t>
            </a:r>
            <a:r>
              <a:rPr lang="en-US" sz="1800" dirty="0" err="1"/>
              <a:t>приводит</a:t>
            </a:r>
            <a:r>
              <a:rPr lang="en-US" sz="1800" dirty="0"/>
              <a:t> к </a:t>
            </a:r>
            <a:r>
              <a:rPr lang="en-US" sz="1800" dirty="0" err="1"/>
              <a:t>значительному</a:t>
            </a:r>
            <a:r>
              <a:rPr lang="en-US" sz="1800" dirty="0"/>
              <a:t> </a:t>
            </a:r>
            <a:r>
              <a:rPr lang="en-US" sz="1800" dirty="0" err="1"/>
              <a:t>уменьшению</a:t>
            </a:r>
            <a:r>
              <a:rPr lang="en-US" sz="1800" dirty="0"/>
              <a:t> </a:t>
            </a:r>
            <a:r>
              <a:rPr lang="en-US" sz="1800" dirty="0" err="1"/>
              <a:t>длины</a:t>
            </a:r>
            <a:r>
              <a:rPr lang="en-US" sz="1800" dirty="0"/>
              <a:t> кода </a:t>
            </a:r>
            <a:r>
              <a:rPr lang="en-US" sz="1800" dirty="0" err="1"/>
              <a:t>часто</a:t>
            </a:r>
            <a:r>
              <a:rPr lang="en-US" sz="1800" dirty="0"/>
              <a:t> </a:t>
            </a:r>
            <a:r>
              <a:rPr lang="en-US" sz="1800" dirty="0" err="1"/>
              <a:t>встречающихся</a:t>
            </a:r>
            <a:r>
              <a:rPr lang="en-US" sz="1800" dirty="0"/>
              <a:t> </a:t>
            </a:r>
            <a:r>
              <a:rPr lang="en-US" sz="1800" dirty="0" err="1"/>
              <a:t>символов</a:t>
            </a:r>
            <a:endParaRPr lang="en-US" sz="1800" dirty="0"/>
          </a:p>
          <a:p>
            <a:r>
              <a:rPr lang="ru-RU" sz="1800" dirty="0"/>
              <a:t>Н</a:t>
            </a:r>
            <a:r>
              <a:rPr lang="en-US" sz="1800" dirty="0" err="1"/>
              <a:t>аибольшую</a:t>
            </a:r>
            <a:r>
              <a:rPr lang="en-US" sz="1800" dirty="0"/>
              <a:t> </a:t>
            </a:r>
            <a:r>
              <a:rPr lang="en-US" sz="1800" dirty="0" err="1"/>
              <a:t>степень</a:t>
            </a:r>
            <a:r>
              <a:rPr lang="en-US" sz="1800" dirty="0"/>
              <a:t> </a:t>
            </a:r>
            <a:r>
              <a:rPr lang="en-US" sz="1800" dirty="0" err="1"/>
              <a:t>сжатия</a:t>
            </a:r>
            <a:r>
              <a:rPr lang="en-US" sz="1800" dirty="0"/>
              <a:t> </a:t>
            </a:r>
            <a:r>
              <a:rPr lang="en-US" sz="1800" dirty="0" err="1"/>
              <a:t>имеют</a:t>
            </a:r>
            <a:r>
              <a:rPr lang="en-US" sz="1800" dirty="0"/>
              <a:t> </a:t>
            </a:r>
            <a:r>
              <a:rPr lang="en-US" sz="1800" dirty="0" err="1"/>
              <a:t>текстовые</a:t>
            </a:r>
            <a:r>
              <a:rPr lang="ru-RU" sz="1800" dirty="0"/>
              <a:t> и звуковые</a:t>
            </a:r>
            <a:r>
              <a:rPr lang="en-US" sz="1800" dirty="0"/>
              <a:t> </a:t>
            </a:r>
            <a:r>
              <a:rPr lang="en-US" sz="1800" dirty="0" err="1"/>
              <a:t>файлы</a:t>
            </a:r>
            <a:r>
              <a:rPr lang="ru-RU" sz="1800" dirty="0"/>
              <a:t> (</a:t>
            </a:r>
            <a:r>
              <a:rPr lang="en-US" sz="1800" dirty="0"/>
              <a:t>txt </a:t>
            </a:r>
            <a:r>
              <a:rPr lang="ru-RU" sz="1800" dirty="0"/>
              <a:t> и </a:t>
            </a:r>
            <a:r>
              <a:rPr lang="en-US" sz="1800" dirty="0"/>
              <a:t>wav</a:t>
            </a:r>
            <a:r>
              <a:rPr lang="ru-RU" sz="1800" dirty="0"/>
              <a:t>)</a:t>
            </a:r>
            <a:r>
              <a:rPr lang="en-US" sz="1800" dirty="0"/>
              <a:t>, </a:t>
            </a:r>
            <a:r>
              <a:rPr lang="en-US" sz="1800" dirty="0" err="1"/>
              <a:t>которые</a:t>
            </a:r>
            <a:r>
              <a:rPr lang="en-US" sz="1800" dirty="0"/>
              <a:t> </a:t>
            </a:r>
            <a:r>
              <a:rPr lang="en-US" sz="1800" dirty="0" err="1"/>
              <a:t>обладают</a:t>
            </a:r>
            <a:r>
              <a:rPr lang="en-US" sz="1800" dirty="0"/>
              <a:t> </a:t>
            </a:r>
            <a:r>
              <a:rPr lang="en-US" sz="1800" dirty="0" err="1"/>
              <a:t>высокой</a:t>
            </a:r>
            <a:r>
              <a:rPr lang="en-US" sz="1800" dirty="0"/>
              <a:t> </a:t>
            </a:r>
            <a:r>
              <a:rPr lang="en-US" sz="1800" dirty="0" err="1"/>
              <a:t>степенью</a:t>
            </a:r>
            <a:r>
              <a:rPr lang="en-US" sz="1800" dirty="0"/>
              <a:t> </a:t>
            </a:r>
            <a:r>
              <a:rPr lang="en-US" sz="1800" dirty="0" err="1"/>
              <a:t>дисперсии</a:t>
            </a:r>
            <a:endParaRPr lang="en-US" sz="1800" dirty="0"/>
          </a:p>
          <a:p>
            <a:r>
              <a:rPr lang="en-US" sz="1800" dirty="0" err="1"/>
              <a:t>Файлы</a:t>
            </a:r>
            <a:r>
              <a:rPr lang="en-US" sz="1800" dirty="0"/>
              <a:t> </a:t>
            </a:r>
            <a:r>
              <a:rPr lang="en-US" sz="1800" dirty="0" err="1"/>
              <a:t>форматов</a:t>
            </a:r>
            <a:r>
              <a:rPr lang="en-US" sz="1800" dirty="0"/>
              <a:t> bmp</a:t>
            </a:r>
            <a:r>
              <a:rPr lang="ru-RU" sz="1800" dirty="0"/>
              <a:t> </a:t>
            </a:r>
            <a:r>
              <a:rPr lang="en-US" sz="1800" dirty="0"/>
              <a:t>и mov</a:t>
            </a:r>
            <a:r>
              <a:rPr lang="ru-RU" sz="1800" dirty="0"/>
              <a:t> </a:t>
            </a:r>
            <a:r>
              <a:rPr lang="en-US" sz="1800" dirty="0" err="1"/>
              <a:t>обладают</a:t>
            </a:r>
            <a:r>
              <a:rPr lang="en-US" sz="1800" dirty="0"/>
              <a:t> </a:t>
            </a:r>
            <a:r>
              <a:rPr lang="en-US" sz="1800" dirty="0" err="1"/>
              <a:t>меньшей</a:t>
            </a:r>
            <a:r>
              <a:rPr lang="en-US" sz="1800" dirty="0"/>
              <a:t> </a:t>
            </a:r>
            <a:r>
              <a:rPr lang="en-US" sz="1800" dirty="0" err="1"/>
              <a:t>степенью</a:t>
            </a:r>
            <a:r>
              <a:rPr lang="en-US" sz="1800" dirty="0"/>
              <a:t> </a:t>
            </a:r>
            <a:r>
              <a:rPr lang="en-US" sz="1800" dirty="0" err="1"/>
              <a:t>дисперсии</a:t>
            </a:r>
            <a:r>
              <a:rPr lang="en-US" sz="1800" dirty="0"/>
              <a:t>, </a:t>
            </a:r>
            <a:r>
              <a:rPr lang="en-US" sz="1800" dirty="0" err="1"/>
              <a:t>соответственно</a:t>
            </a:r>
            <a:r>
              <a:rPr lang="en-US" sz="1800" dirty="0"/>
              <a:t> </a:t>
            </a:r>
            <a:r>
              <a:rPr lang="en-US" sz="1800" dirty="0" err="1"/>
              <a:t>сжимаются</a:t>
            </a:r>
            <a:r>
              <a:rPr lang="en-US" sz="1800" dirty="0"/>
              <a:t> </a:t>
            </a:r>
            <a:r>
              <a:rPr lang="en-US" sz="1800" dirty="0" err="1"/>
              <a:t>гораздо</a:t>
            </a:r>
            <a:r>
              <a:rPr lang="en-US" sz="1800" dirty="0"/>
              <a:t> </a:t>
            </a:r>
            <a:r>
              <a:rPr lang="en-US" sz="1800" dirty="0" err="1"/>
              <a:t>хуже</a:t>
            </a:r>
            <a:endParaRPr lang="en-US" sz="1800" dirty="0"/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19601213-D4D8-0570-FE1C-77F2C73A4349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85" r="17494"/>
          <a:stretch/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9240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C53FB9-FD4A-0959-F775-4A7619FAC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37" name="Rectangle 4136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C72640-3BD8-9541-39E9-B3BCED4FF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000" dirty="0" err="1"/>
              <a:t>Зависимость</a:t>
            </a:r>
            <a:r>
              <a:rPr lang="en-US" sz="3000" dirty="0"/>
              <a:t> </a:t>
            </a:r>
            <a:r>
              <a:rPr lang="en-US" sz="3000" dirty="0" err="1"/>
              <a:t>степени</a:t>
            </a:r>
            <a:r>
              <a:rPr lang="en-US" sz="3000" dirty="0"/>
              <a:t> </a:t>
            </a:r>
            <a:r>
              <a:rPr lang="en-US" sz="3000" dirty="0" err="1"/>
              <a:t>сжатия</a:t>
            </a:r>
            <a:r>
              <a:rPr lang="en-US" sz="3000" dirty="0"/>
              <a:t> </a:t>
            </a:r>
            <a:r>
              <a:rPr lang="en-US" sz="3000" dirty="0" err="1"/>
              <a:t>от</a:t>
            </a:r>
            <a:r>
              <a:rPr lang="en-US" sz="3000" dirty="0"/>
              <a:t> </a:t>
            </a:r>
            <a:r>
              <a:rPr lang="en-US" sz="3000" dirty="0" err="1"/>
              <a:t>размера</a:t>
            </a:r>
            <a:r>
              <a:rPr lang="en-US" sz="3000" dirty="0"/>
              <a:t> </a:t>
            </a:r>
            <a:r>
              <a:rPr lang="en-US" sz="3000" dirty="0" err="1"/>
              <a:t>сжимаемых</a:t>
            </a:r>
            <a:r>
              <a:rPr lang="en-US" sz="3000" dirty="0"/>
              <a:t> </a:t>
            </a:r>
            <a:r>
              <a:rPr lang="en-US" sz="3000" dirty="0" err="1"/>
              <a:t>файлов</a:t>
            </a:r>
            <a:endParaRPr lang="en-US" sz="3000" dirty="0"/>
          </a:p>
        </p:txBody>
      </p:sp>
      <p:sp>
        <p:nvSpPr>
          <p:cNvPr id="4139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F78D84F-AF4F-00A5-2DF8-033EBA51C7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80" y="2872899"/>
            <a:ext cx="4243589" cy="3659732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r>
              <a:rPr lang="en-US" sz="1800" dirty="0" err="1"/>
              <a:t>Файлы</a:t>
            </a:r>
            <a:r>
              <a:rPr lang="ru-RU" sz="1800" dirty="0"/>
              <a:t> форматов </a:t>
            </a:r>
            <a:r>
              <a:rPr lang="en-US" sz="1800" dirty="0"/>
              <a:t>txt </a:t>
            </a:r>
            <a:r>
              <a:rPr lang="ru-RU" sz="1800" dirty="0"/>
              <a:t>и </a:t>
            </a:r>
            <a:r>
              <a:rPr lang="en-US" sz="1800" dirty="0"/>
              <a:t>wav</a:t>
            </a:r>
            <a:r>
              <a:rPr lang="ru-RU" sz="1800" dirty="0"/>
              <a:t> </a:t>
            </a:r>
            <a:r>
              <a:rPr lang="en-US" sz="1800" dirty="0" err="1"/>
              <a:t>небольшого</a:t>
            </a:r>
            <a:r>
              <a:rPr lang="en-US" sz="1800" dirty="0"/>
              <a:t> </a:t>
            </a:r>
            <a:r>
              <a:rPr lang="en-US" sz="1800" dirty="0" err="1"/>
              <a:t>размера</a:t>
            </a:r>
            <a:r>
              <a:rPr lang="ru-RU" sz="1800" dirty="0"/>
              <a:t> обладают высокой степенью сжатия, однако с увеличением размера коэффициент сжатия снижается (из-за значительного снижения дисперсии)</a:t>
            </a:r>
          </a:p>
          <a:p>
            <a:r>
              <a:rPr lang="en-US" sz="1800" dirty="0" err="1"/>
              <a:t>Файлы</a:t>
            </a:r>
            <a:r>
              <a:rPr lang="ru-RU" sz="1800" dirty="0"/>
              <a:t> </a:t>
            </a:r>
            <a:r>
              <a:rPr lang="en-US" sz="1800" dirty="0" err="1"/>
              <a:t>небольшого</a:t>
            </a:r>
            <a:r>
              <a:rPr lang="en-US" sz="1800" dirty="0"/>
              <a:t> </a:t>
            </a:r>
            <a:r>
              <a:rPr lang="en-US" sz="1800" dirty="0" err="1"/>
              <a:t>размера</a:t>
            </a:r>
            <a:r>
              <a:rPr lang="ru-RU" sz="1800" dirty="0"/>
              <a:t> форматов </a:t>
            </a:r>
            <a:r>
              <a:rPr lang="en-US" sz="1800" dirty="0"/>
              <a:t>bmp </a:t>
            </a:r>
            <a:r>
              <a:rPr lang="ru-RU" sz="1800" dirty="0"/>
              <a:t>и </a:t>
            </a:r>
            <a:r>
              <a:rPr lang="en-US" sz="1800" dirty="0"/>
              <a:t>mov</a:t>
            </a:r>
            <a:r>
              <a:rPr lang="ru-RU" sz="1800" dirty="0"/>
              <a:t> - напротив обладают низкой степенью сжатия, однако с увеличением размера их степень сжатия возрастает (из-за большого числа одинаковых символов)</a:t>
            </a:r>
          </a:p>
        </p:txBody>
      </p:sp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D9AE1348-C0E1-6758-D658-614F99926C2A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36" r="8758" b="-1"/>
          <a:stretch/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5963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8" name="Rectangle 6157">
            <a:extLst>
              <a:ext uri="{FF2B5EF4-FFF2-40B4-BE49-F238E27FC236}">
                <a16:creationId xmlns:a16="http://schemas.microsoft.com/office/drawing/2014/main" id="{D2B783EE-0239-4717-BBEA-8C9EAC61C82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AFA222-483C-9791-D68D-B10FA890F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45810"/>
            <a:ext cx="5120561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3A5615-DB09-808C-138A-26F1C5602F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443788"/>
            <a:ext cx="5092194" cy="4957011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buNone/>
            </a:pPr>
            <a:r>
              <a:rPr lang="en-US" sz="1800" dirty="0" err="1"/>
              <a:t>Проделав</a:t>
            </a:r>
            <a:r>
              <a:rPr lang="en-US" sz="1800" dirty="0"/>
              <a:t> </a:t>
            </a:r>
            <a:r>
              <a:rPr lang="en-US" sz="1800" dirty="0" err="1"/>
              <a:t>данную</a:t>
            </a:r>
            <a:r>
              <a:rPr lang="en-US" sz="1800" dirty="0"/>
              <a:t> </a:t>
            </a:r>
            <a:r>
              <a:rPr lang="en-US" sz="1800" dirty="0" err="1"/>
              <a:t>работу</a:t>
            </a:r>
            <a:r>
              <a:rPr lang="en-US" sz="1800" dirty="0"/>
              <a:t> </a:t>
            </a:r>
            <a:r>
              <a:rPr lang="en-US" sz="1800" dirty="0" err="1"/>
              <a:t>мы</a:t>
            </a:r>
            <a:r>
              <a:rPr lang="en-US" sz="1800" dirty="0"/>
              <a:t> </a:t>
            </a:r>
            <a:r>
              <a:rPr lang="en-US" sz="1800" dirty="0" err="1"/>
              <a:t>пришли</a:t>
            </a:r>
            <a:r>
              <a:rPr lang="en-US" sz="1800" dirty="0"/>
              <a:t> к </a:t>
            </a:r>
            <a:r>
              <a:rPr lang="en-US" sz="1800" dirty="0" err="1"/>
              <a:t>тому</a:t>
            </a:r>
            <a:r>
              <a:rPr lang="en-US" sz="1800" dirty="0"/>
              <a:t>, </a:t>
            </a:r>
            <a:r>
              <a:rPr lang="en-US" sz="1800" dirty="0" err="1"/>
              <a:t>что</a:t>
            </a:r>
            <a:r>
              <a:rPr lang="en-US" sz="1800" dirty="0"/>
              <a:t> </a:t>
            </a:r>
            <a:r>
              <a:rPr lang="en-US" sz="1800" dirty="0" err="1"/>
              <a:t>алгоритм</a:t>
            </a:r>
            <a:r>
              <a:rPr lang="en-US" sz="1800" dirty="0"/>
              <a:t> </a:t>
            </a:r>
            <a:r>
              <a:rPr lang="en-US" sz="1800" dirty="0" err="1"/>
              <a:t>Хаффмана</a:t>
            </a:r>
            <a:r>
              <a:rPr lang="en-US" sz="1800" dirty="0"/>
              <a:t> </a:t>
            </a:r>
            <a:r>
              <a:rPr lang="en-US" sz="1800" dirty="0" err="1"/>
              <a:t>обладает</a:t>
            </a:r>
            <a:r>
              <a:rPr lang="en-US" sz="1800" dirty="0"/>
              <a:t> </a:t>
            </a:r>
            <a:r>
              <a:rPr lang="en-US" sz="1800" dirty="0" err="1"/>
              <a:t>как</a:t>
            </a:r>
            <a:r>
              <a:rPr lang="en-US" sz="1800" dirty="0"/>
              <a:t> </a:t>
            </a:r>
            <a:r>
              <a:rPr lang="en-US" sz="1800" dirty="0" err="1"/>
              <a:t>преимуществами</a:t>
            </a:r>
            <a:r>
              <a:rPr lang="en-US" sz="1800" dirty="0"/>
              <a:t>, </a:t>
            </a:r>
            <a:r>
              <a:rPr lang="en-US" sz="1800" dirty="0" err="1"/>
              <a:t>так</a:t>
            </a:r>
            <a:r>
              <a:rPr lang="en-US" sz="1800" dirty="0"/>
              <a:t> и </a:t>
            </a:r>
            <a:r>
              <a:rPr lang="en-US" sz="1800" dirty="0" err="1"/>
              <a:t>недостатками</a:t>
            </a:r>
            <a:r>
              <a:rPr lang="ru-RU" sz="1800" dirty="0"/>
              <a:t>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 err="1"/>
              <a:t>Плюсы</a:t>
            </a:r>
            <a:r>
              <a:rPr lang="en-US" sz="1800" b="1" dirty="0"/>
              <a:t>:</a:t>
            </a:r>
          </a:p>
          <a:p>
            <a:r>
              <a:rPr lang="ru-RU" sz="1800" dirty="0"/>
              <a:t>П</a:t>
            </a:r>
            <a:r>
              <a:rPr lang="en-US" sz="1800" dirty="0" err="1"/>
              <a:t>озволяет</a:t>
            </a:r>
            <a:r>
              <a:rPr lang="en-US" sz="1800" dirty="0"/>
              <a:t> </a:t>
            </a:r>
            <a:r>
              <a:rPr lang="en-US" sz="1800" dirty="0" err="1"/>
              <a:t>сжимать</a:t>
            </a:r>
            <a:r>
              <a:rPr lang="en-US" sz="1800" dirty="0"/>
              <a:t> и </a:t>
            </a:r>
            <a:r>
              <a:rPr lang="en-US" sz="1800" dirty="0" err="1"/>
              <a:t>разжимать</a:t>
            </a:r>
            <a:r>
              <a:rPr lang="en-US" sz="1800" dirty="0"/>
              <a:t> </a:t>
            </a:r>
            <a:r>
              <a:rPr lang="en-US" sz="1800" dirty="0" err="1"/>
              <a:t>файлы</a:t>
            </a:r>
            <a:r>
              <a:rPr lang="en-US" sz="1800" dirty="0"/>
              <a:t> </a:t>
            </a:r>
            <a:r>
              <a:rPr lang="en-US" sz="1800" dirty="0" err="1"/>
              <a:t>различной</a:t>
            </a:r>
            <a:r>
              <a:rPr lang="en-US" sz="1800" dirty="0"/>
              <a:t> </a:t>
            </a:r>
            <a:r>
              <a:rPr lang="en-US" sz="1800" dirty="0" err="1"/>
              <a:t>природы</a:t>
            </a:r>
            <a:endParaRPr lang="en-US" sz="1800" dirty="0"/>
          </a:p>
          <a:p>
            <a:r>
              <a:rPr lang="en-US" sz="1800" dirty="0" err="1"/>
              <a:t>Простота</a:t>
            </a:r>
            <a:endParaRPr lang="en-US" sz="1800" dirty="0"/>
          </a:p>
          <a:p>
            <a:r>
              <a:rPr lang="en-US" sz="1800" dirty="0" err="1"/>
              <a:t>Высокая</a:t>
            </a:r>
            <a:r>
              <a:rPr lang="en-US" sz="1800" dirty="0"/>
              <a:t> </a:t>
            </a:r>
            <a:r>
              <a:rPr lang="en-US" sz="1800" dirty="0" err="1"/>
              <a:t>скорость</a:t>
            </a:r>
            <a:endParaRPr lang="ru-RU" sz="1800" dirty="0"/>
          </a:p>
          <a:p>
            <a:endParaRPr lang="en-US" sz="1800" dirty="0"/>
          </a:p>
          <a:p>
            <a:pPr marL="0" indent="0">
              <a:buNone/>
            </a:pPr>
            <a:r>
              <a:rPr lang="en-US" sz="1800" b="1" dirty="0" err="1"/>
              <a:t>Минусы</a:t>
            </a:r>
            <a:r>
              <a:rPr lang="en-US" sz="1800" b="1" dirty="0"/>
              <a:t>:</a:t>
            </a:r>
          </a:p>
          <a:p>
            <a:r>
              <a:rPr lang="ru-RU" sz="1800" dirty="0"/>
              <a:t>Н</a:t>
            </a:r>
            <a:r>
              <a:rPr lang="en-US" sz="1800" dirty="0" err="1"/>
              <a:t>еэффективен</a:t>
            </a:r>
            <a:r>
              <a:rPr lang="en-US" sz="1800" dirty="0"/>
              <a:t> </a:t>
            </a:r>
            <a:r>
              <a:rPr lang="en-US" sz="1800" dirty="0" err="1"/>
              <a:t>для</a:t>
            </a:r>
            <a:r>
              <a:rPr lang="en-US" sz="1800" dirty="0"/>
              <a:t> </a:t>
            </a:r>
            <a:r>
              <a:rPr lang="en-US" sz="1800" dirty="0" err="1"/>
              <a:t>сжатия</a:t>
            </a:r>
            <a:r>
              <a:rPr lang="en-US" sz="1800" dirty="0"/>
              <a:t> </a:t>
            </a:r>
            <a:r>
              <a:rPr lang="en-US" sz="1800" dirty="0" err="1"/>
              <a:t>данных</a:t>
            </a:r>
            <a:r>
              <a:rPr lang="en-US" sz="1800" dirty="0"/>
              <a:t> с </a:t>
            </a:r>
            <a:r>
              <a:rPr lang="en-US" sz="1800" dirty="0" err="1"/>
              <a:t>малой</a:t>
            </a:r>
            <a:r>
              <a:rPr lang="en-US" sz="1800" dirty="0"/>
              <a:t> </a:t>
            </a:r>
            <a:r>
              <a:rPr lang="en-US" sz="1800" dirty="0" err="1"/>
              <a:t>дисперсией</a:t>
            </a:r>
            <a:endParaRPr lang="en-US" sz="1800" dirty="0"/>
          </a:p>
          <a:p>
            <a:r>
              <a:rPr lang="en-US" sz="1800" dirty="0" err="1"/>
              <a:t>Неэффективен</a:t>
            </a:r>
            <a:r>
              <a:rPr lang="en-US" sz="1800" dirty="0"/>
              <a:t> </a:t>
            </a:r>
            <a:r>
              <a:rPr lang="en-US" sz="1800" dirty="0" err="1"/>
              <a:t>для</a:t>
            </a:r>
            <a:r>
              <a:rPr lang="en-US" sz="1800" dirty="0"/>
              <a:t> </a:t>
            </a:r>
            <a:r>
              <a:rPr lang="en-US" sz="1800" dirty="0" err="1"/>
              <a:t>данных</a:t>
            </a:r>
            <a:r>
              <a:rPr lang="en-US" sz="1800" dirty="0"/>
              <a:t>, </a:t>
            </a:r>
            <a:r>
              <a:rPr lang="en-US" sz="1800" dirty="0" err="1"/>
              <a:t>предварительно</a:t>
            </a:r>
            <a:r>
              <a:rPr lang="en-US" sz="1800" dirty="0"/>
              <a:t> </a:t>
            </a:r>
            <a:r>
              <a:rPr lang="en-US" sz="1800" dirty="0" err="1"/>
              <a:t>сжатых</a:t>
            </a:r>
            <a:r>
              <a:rPr lang="en-US" sz="1800" dirty="0"/>
              <a:t> </a:t>
            </a:r>
            <a:r>
              <a:rPr lang="en-US" sz="1800" dirty="0" err="1"/>
              <a:t>другими</a:t>
            </a:r>
            <a:r>
              <a:rPr lang="en-US" sz="1800" dirty="0"/>
              <a:t> </a:t>
            </a:r>
            <a:r>
              <a:rPr lang="en-US" sz="1800" dirty="0" err="1"/>
              <a:t>алгоритмами</a:t>
            </a:r>
            <a:r>
              <a:rPr lang="en-US" sz="1800" dirty="0"/>
              <a:t> </a:t>
            </a:r>
            <a:r>
              <a:rPr lang="en-US" sz="1800" dirty="0" err="1"/>
              <a:t>сжатия</a:t>
            </a:r>
            <a:endParaRPr lang="en-US" sz="1800" dirty="0"/>
          </a:p>
        </p:txBody>
      </p:sp>
      <p:sp>
        <p:nvSpPr>
          <p:cNvPr id="6160" name="Oval 6159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6F25F146-7D8E-D6B0-2D58-074831017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8" r="1" b="313"/>
          <a:stretch/>
        </p:blipFill>
        <p:spPr bwMode="auto">
          <a:xfrm>
            <a:off x="7901259" y="2727729"/>
            <a:ext cx="4290741" cy="4130271"/>
          </a:xfrm>
          <a:custGeom>
            <a:avLst/>
            <a:gdLst/>
            <a:ahLst/>
            <a:cxnLst/>
            <a:rect l="l" t="t" r="r" b="b"/>
            <a:pathLst>
              <a:path w="4290741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1" y="751286"/>
                </a:lnTo>
                <a:lnTo>
                  <a:pt x="4290741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62" name="Arc 6161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34" name="Picture 10" descr="Picture background">
            <a:extLst>
              <a:ext uri="{FF2B5EF4-FFF2-40B4-BE49-F238E27FC236}">
                <a16:creationId xmlns:a16="http://schemas.microsoft.com/office/drawing/2014/main" id="{CD947386-F732-6DB2-6FBF-D42FD31E833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615"/>
          <a:stretch/>
        </p:blipFill>
        <p:spPr bwMode="auto">
          <a:xfrm>
            <a:off x="6261607" y="1"/>
            <a:ext cx="3519312" cy="3007909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A70A3B64-9E99-A5E2-2229-D9223CC4B166}"/>
              </a:ext>
            </a:extLst>
          </p:cNvPr>
          <p:cNvSpPr txBox="1">
            <a:spLocks/>
          </p:cNvSpPr>
          <p:nvPr/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7C5F56D-2E8D-ABB2-F95F-3C04C051A803}"/>
              </a:ext>
            </a:extLst>
          </p:cNvPr>
          <p:cNvSpPr txBox="1">
            <a:spLocks/>
          </p:cNvSpPr>
          <p:nvPr/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</a:pP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339628380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</TotalTime>
  <Words>391</Words>
  <Application>Microsoft Office PowerPoint</Application>
  <PresentationFormat>Широкоэкранный</PresentationFormat>
  <Paragraphs>47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Unbounded</vt:lpstr>
      <vt:lpstr>Тема Office</vt:lpstr>
      <vt:lpstr>Отслеживание инфографики алгоритма Хаффмана</vt:lpstr>
      <vt:lpstr>Цели и задачи</vt:lpstr>
      <vt:lpstr>Наши шаги</vt:lpstr>
      <vt:lpstr>Принцип работы</vt:lpstr>
      <vt:lpstr>Принцип работы</vt:lpstr>
      <vt:lpstr>Среднее время сжатия различных типов данных</vt:lpstr>
      <vt:lpstr>Среднее время декомпрессии различных типов данных</vt:lpstr>
      <vt:lpstr>Средняя степень сжатия различных типов данных</vt:lpstr>
      <vt:lpstr>Зависимость степени сжатия от типа сжимаемых данных</vt:lpstr>
      <vt:lpstr>Зависимость степени сжатия от размера сжимаемых файлов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Отслеживание инфографики алгоритма Хаффмана</dc:title>
  <dc:creator>Дмитрий Данилов</dc:creator>
  <cp:lastModifiedBy>Admin</cp:lastModifiedBy>
  <cp:revision>23</cp:revision>
  <dcterms:created xsi:type="dcterms:W3CDTF">2025-02-14T19:04:07Z</dcterms:created>
  <dcterms:modified xsi:type="dcterms:W3CDTF">2025-02-20T12:33:46Z</dcterms:modified>
</cp:coreProperties>
</file>